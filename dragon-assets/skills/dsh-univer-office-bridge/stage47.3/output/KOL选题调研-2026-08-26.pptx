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rPr>
                <a:solidFill>
                  <a:srgbClr val="2E5C8A"/>
                </a:solidFill>
              </a:rPr>
              <a:t>KOL 选题调研报告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>
                <a:solidFill>
                  <a:srgbClr val="555555"/>
                </a:solidFill>
              </a:rPr>
              <a:t>关键词：AI 工具 编程技巧 效率提升    数据日期：2026-08-26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rgbClr val="555555"/>
                </a:solidFill>
              </a:rPr>
              <a:t>数据来源：agent-reach V1.5.0（4 平台调研）· 小红书 + 微博 + 知乎 + B站</a:t>
            </a:r>
          </a:p>
          <a:p>
            <a:r>
              <a:t>产出：dsh-univer-office-bridge · 阶段 47.3 联动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2E5C8A"/>
                </a:solidFill>
              </a:rPr>
              <a:t>平台调研概览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平台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帖子数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总互动量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后端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小红书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opencli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微博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opencli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opencli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B站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opencli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2E5C8A"/>
                </a:solidFill>
              </a:rPr>
              <a:t>Top 4 选题候选（按互动量排序）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>
                <a:solidFill>
                  <a:srgbClr val="C0392B"/>
                </a:solidFill>
              </a:rPr>
              <a:t>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E5C8A"/>
                </a:solidFill>
              </a:rPr>
              <a:t>我用 GPT-4o 拍了一部短片</a:t>
            </a:r>
          </a:p>
          <a:p>
            <a:pPr>
              <a:defRPr sz="1400"/>
            </a:pPr>
            <a:r>
              <a:rPr>
                <a:solidFill>
                  <a:srgbClr val="555555"/>
                </a:solidFill>
              </a:rPr>
              <a:t>[B站 · 互动量 152,000] AI 视频工具全流程实战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548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>
                <a:solidFill>
                  <a:srgbClr val="C0392B"/>
                </a:solidFill>
              </a:rP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E5C8A"/>
                </a:solidFill>
              </a:rPr>
              <a:t>聊聊职场法律那些事</a:t>
            </a:r>
          </a:p>
          <a:p>
            <a:pPr>
              <a:defRPr sz="1400"/>
            </a:pPr>
            <a:r>
              <a:rPr>
                <a:solidFill>
                  <a:srgbClr val="555555"/>
                </a:solidFill>
              </a:rPr>
              <a:t>[B站 · 互动量 89,000] 劳动合同 + 竞业限制 + 离职注意事项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548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>
                <a:solidFill>
                  <a:srgbClr val="C0392B"/>
                </a:solidFill>
              </a:rPr>
              <a:t>#3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E5C8A"/>
                </a:solidFill>
              </a:rPr>
              <a:t>#AI产品经理# 2026 年 AI 产品趋势观察</a:t>
            </a:r>
          </a:p>
          <a:p>
            <a:pPr>
              <a:defRPr sz="1400"/>
            </a:pPr>
            <a:r>
              <a:rPr>
                <a:solidFill>
                  <a:srgbClr val="555555"/>
                </a:solidFill>
              </a:rPr>
              <a:t>[微博 · 互动量 32,100] 从 GPT-5 到 Claude 4，2026 年 AI 产品的 5 大变化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59"/>
            <a:ext cx="548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>
                <a:solidFill>
                  <a:srgbClr val="C0392B"/>
                </a:solidFill>
              </a:rPr>
              <a:t>#4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37759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E5C8A"/>
                </a:solidFill>
              </a:rPr>
              <a:t>#编程技巧# 10 个 Git 命令让效率翻倍</a:t>
            </a:r>
          </a:p>
          <a:p>
            <a:pPr>
              <a:defRPr sz="1400"/>
            </a:pPr>
            <a:r>
              <a:rPr>
                <a:solidFill>
                  <a:srgbClr val="555555"/>
                </a:solidFill>
              </a:rPr>
              <a:t>[微博 · 互动量 21,500] stash/cherry-pick/rebase 实战案例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2E5C8A"/>
                </a:solidFill>
              </a:rPr>
              <a:t>选题优先级建议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>
                <a:solidFill>
                  <a:srgbClr val="2E5C8A"/>
                </a:solidFill>
              </a:rPr>
              <a:t>🔥 必做（互动量 &gt; 50k）    01 + 04</a:t>
            </a:r>
          </a:p>
          <a:p>
            <a:pPr>
              <a:defRPr sz="1600"/>
            </a:pPr>
            <a:r>
              <a:rPr>
                <a:solidFill>
                  <a:srgbClr val="F58C00"/>
                </a:solidFill>
              </a:rPr>
              <a:t>📌 高优（互动量 5k-50k）    02 + 03</a:t>
            </a:r>
          </a:p>
          <a:p>
            <a:pPr>
              <a:defRPr sz="1400"/>
            </a:pPr>
            <a:r>
              <a:rPr>
                <a:solidFill>
                  <a:srgbClr val="555555"/>
                </a:solidFill>
              </a:rPr>
              <a:t>⚪ 备选（互动量 &lt; 5k）    （本期不做）</a:t>
            </a:r>
          </a:p>
          <a:p>
            <a:pPr>
              <a:defRPr sz="800"/>
            </a:pPr>
            <a:r>
              <a:rPr>
                <a:solidFill>
                  <a:srgbClr val="2E5C8A"/>
                </a:solidFill>
              </a:rPr>
              <a:t>    </a:t>
            </a:r>
          </a:p>
          <a:p>
            <a:pPr>
              <a:defRPr sz="1600"/>
            </a:pPr>
            <a:r>
              <a:rPr>
                <a:solidFill>
                  <a:srgbClr val="2E5C8A"/>
                </a:solidFill>
              </a:rPr>
              <a:t>🎯 推荐排期：    本周先做 01（周一）+ 03（周三）+ 04（周五）</a:t>
            </a:r>
          </a:p>
          <a:p>
            <a:pPr>
              <a:defRPr sz="1400"/>
            </a:pPr>
            <a:r>
              <a:rPr>
                <a:solidFill>
                  <a:srgbClr val="2E5C8A"/>
                </a:solidFill>
              </a:rPr>
              <a:t>📊 数据回看：    7 日后用 a-stock-data-bridge 拉指数表现，回看互动 → 实际转化率</a:t>
            </a:r>
          </a:p>
          <a:p>
            <a:pPr>
              <a:defRPr sz="1400"/>
            </a:pPr>
            <a:r>
              <a:rPr>
                <a:solidFill>
                  <a:srgbClr val="C0392B"/>
                </a:solidFill>
              </a:rPr>
              <a:t>🛡 风险提示：    微博/小红书话题热度衰减快，建议选题确认 24h 内发布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2E5C8A"/>
                </a:solidFill>
              </a:rPr>
              <a:t>下周行动建议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>
                <a:solidFill>
                  <a:srgbClr val="2E5C8A"/>
                </a:solidFill>
              </a:rPr>
              <a:t>1. 立即行动：本周末前确认 Top 4 选题的 3 个排期（周一/三/五）</a:t>
            </a:r>
          </a:p>
          <a:p>
            <a:pPr>
              <a:defRPr sz="1600"/>
            </a:pPr>
            <a:r>
              <a:rPr>
                <a:solidFill>
                  <a:srgbClr val="555555"/>
                </a:solidFill>
              </a:rPr>
              <a:t>2. 内容生产：每个选题分配 28-04 内容策划师 + 28-01 文案 + 35-05 视频导演</a:t>
            </a:r>
          </a:p>
          <a:p>
            <a:pPr>
              <a:defRPr sz="1600"/>
            </a:pPr>
            <a:r>
              <a:rPr>
                <a:solidFill>
                  <a:srgbClr val="555555"/>
                </a:solidFill>
              </a:rPr>
              <a:t>3. 数据回流：发布 7 日后用 a-stock-data-bridge 拉热榜，对比本期 vs 历史</a:t>
            </a:r>
          </a:p>
          <a:p>
            <a:pPr>
              <a:defRPr sz="1600"/>
            </a:pPr>
            <a:r>
              <a:rPr>
                <a:solidFill>
                  <a:srgbClr val="555555"/>
                </a:solidFill>
              </a:rPr>
              <a:t>4. 多平台分发：agent-reach 联动 content-publisher，自动适配 4 平台格式</a:t>
            </a:r>
          </a:p>
          <a:p>
            <a:pPr>
              <a:defRPr sz="1600"/>
            </a:pPr>
            <a:r>
              <a:rPr>
                <a:solidFill>
                  <a:srgbClr val="555555"/>
                </a:solidFill>
              </a:rPr>
              <a:t>5. 月度复盘：月底用 hv-analysis + 28-10 财经底座 出本月 KOL 转化报告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